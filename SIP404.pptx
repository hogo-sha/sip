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E5E962-24B5-C5F8-66B7-E41B8DAC6618}" v="12" dt="2022-06-06T19:44:33.629"/>
    <p1510:client id="{5CD86F2B-6D9C-47BE-A017-1B2B5960C8DE}" v="1053" dt="2022-05-27T12:59:59.682"/>
    <p1510:client id="{CBA31013-4298-4B23-94E6-4F1F489A11CE}" v="9" dt="2022-06-01T13:40:47.455"/>
    <p1510:client id="{D9D0DE09-CF24-8358-6A32-F6E85A9363C6}" v="1" dt="2022-05-27T13:02:44.3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044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527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4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45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841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928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934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657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47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0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956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643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393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088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267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579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3458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jim.hefferon/undergradmath/-/blob/master/undergradmath.tex" TargetMode="External"/><Relationship Id="rId2" Type="http://schemas.openxmlformats.org/officeDocument/2006/relationships/hyperlink" Target="https://gist.github.com/mmoralesf/bfec981a5898088bcefc931e0df1adc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verleaf.com/latex/templates/discussion-essay-template/jdhdcsttjzqz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3" descr="Checkmate move on chessboard">
            <a:extLst>
              <a:ext uri="{FF2B5EF4-FFF2-40B4-BE49-F238E27FC236}">
                <a16:creationId xmlns:a16="http://schemas.microsoft.com/office/drawing/2014/main" id="{EBA4801C-CEFA-5130-E2D5-F34C6D1E43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t="1541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Rastanty Cortez"/>
                <a:ea typeface="UD Digi Kyokasho NP-B"/>
                <a:cs typeface="Calibri Light"/>
              </a:rPr>
              <a:t>End Game/Checkmate</a:t>
            </a:r>
            <a:endParaRPr lang="en-US" sz="7200" dirty="0">
              <a:latin typeface="Rastanty Cortez"/>
              <a:ea typeface="UD Digi Kyokasho NP-B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Devon Caballero-Zarate</a:t>
            </a:r>
          </a:p>
          <a:p>
            <a:r>
              <a:rPr lang="en-US">
                <a:latin typeface="Times New Roman"/>
                <a:cs typeface="Times New Roman"/>
              </a:rPr>
              <a:t>University of Advancing Technology</a:t>
            </a:r>
          </a:p>
          <a:p>
            <a:r>
              <a:rPr lang="en-US">
                <a:latin typeface="Times New Roman"/>
                <a:cs typeface="Times New Roman"/>
              </a:rPr>
              <a:t>Major: 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BBD3ED2-B0E6-45A2-ABD5-ECF31BC37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F2D2D1E8-4ABF-4B6B-B39D-40B080B61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160" y="0"/>
            <a:ext cx="9369421" cy="6857999"/>
          </a:xfrm>
          <a:prstGeom prst="rect">
            <a:avLst/>
          </a:prstGeom>
          <a:gradFill flip="none" rotWithShape="1">
            <a:gsLst>
              <a:gs pos="10000">
                <a:schemeClr val="bg2">
                  <a:lumMod val="60000"/>
                  <a:lumOff val="40000"/>
                  <a:alpha val="40000"/>
                </a:schemeClr>
              </a:gs>
              <a:gs pos="70000">
                <a:schemeClr val="bg2">
                  <a:alpha val="0"/>
                </a:schemeClr>
              </a:gs>
              <a:gs pos="0">
                <a:schemeClr val="bg2">
                  <a:lumMod val="40000"/>
                  <a:lumOff val="6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Freeform: Shape 11">
            <a:extLst>
              <a:ext uri="{FF2B5EF4-FFF2-40B4-BE49-F238E27FC236}">
                <a16:creationId xmlns:a16="http://schemas.microsoft.com/office/drawing/2014/main" id="{BC7AB4B5-66A5-48D1-BD88-C60A16ED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88489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 w="44450">
            <a:gradFill>
              <a:gsLst>
                <a:gs pos="500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25400" algn="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CF5A3-7AB3-BDC6-BA9F-1A0F51ACC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2" y="643467"/>
            <a:ext cx="4340023" cy="5571064"/>
          </a:xfrm>
        </p:spPr>
        <p:txBody>
          <a:bodyPr anchor="ctr">
            <a:normAutofit/>
          </a:bodyPr>
          <a:lstStyle/>
          <a:p>
            <a:r>
              <a:rPr lang="en-US" sz="4400">
                <a:latin typeface="Times New Roman"/>
                <a:cs typeface="Times New Roman"/>
              </a:rPr>
              <a:t>Technical Field &amp; Background Information</a:t>
            </a:r>
            <a:endParaRPr 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4190D-E909-1164-D3D0-50AB3A897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499" y="643467"/>
            <a:ext cx="4521480" cy="55710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To eliminate cheating &amp; academic dishonesty along with streamlining the teacher's workflow</a:t>
            </a:r>
          </a:p>
          <a:p>
            <a:r>
              <a:rPr lang="en-US" dirty="0">
                <a:latin typeface="Times New Roman"/>
                <a:cs typeface="Times New Roman"/>
              </a:rPr>
              <a:t>Includes elements from Network Security, Communications and Computer Science</a:t>
            </a:r>
          </a:p>
          <a:p>
            <a:r>
              <a:rPr lang="en-US" dirty="0">
                <a:latin typeface="Times New Roman"/>
                <a:cs typeface="Times New Roman"/>
              </a:rPr>
              <a:t>Inspired by Professor Aaron Jones</a:t>
            </a:r>
          </a:p>
        </p:txBody>
      </p:sp>
    </p:spTree>
    <p:extLst>
      <p:ext uri="{BB962C8B-B14F-4D97-AF65-F5344CB8AC3E}">
        <p14:creationId xmlns:p14="http://schemas.microsoft.com/office/powerpoint/2010/main" val="1462772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BBD3ED2-B0E6-45A2-ABD5-ECF31BC37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D2D1E8-4ABF-4B6B-B39D-40B080B61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160" y="0"/>
            <a:ext cx="9369421" cy="6857999"/>
          </a:xfrm>
          <a:prstGeom prst="rect">
            <a:avLst/>
          </a:prstGeom>
          <a:gradFill flip="none" rotWithShape="1">
            <a:gsLst>
              <a:gs pos="10000">
                <a:schemeClr val="bg2">
                  <a:lumMod val="60000"/>
                  <a:lumOff val="40000"/>
                  <a:alpha val="40000"/>
                </a:schemeClr>
              </a:gs>
              <a:gs pos="70000">
                <a:schemeClr val="bg2">
                  <a:alpha val="0"/>
                </a:schemeClr>
              </a:gs>
              <a:gs pos="0">
                <a:schemeClr val="bg2">
                  <a:lumMod val="40000"/>
                  <a:lumOff val="6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BC7AB4B5-66A5-48D1-BD88-C60A16ED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88489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 w="44450">
            <a:gradFill>
              <a:gsLst>
                <a:gs pos="500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25400" algn="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637A8-C48E-17BA-AB94-3B3E7D5B2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2" y="643467"/>
            <a:ext cx="4340023" cy="5571064"/>
          </a:xfrm>
        </p:spPr>
        <p:txBody>
          <a:bodyPr anchor="ctr">
            <a:normAutofit/>
          </a:bodyPr>
          <a:lstStyle/>
          <a:p>
            <a:r>
              <a:rPr lang="en-US" sz="4400" dirty="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Times New Roman"/>
                <a:cs typeface="Times New Roman"/>
              </a:rPr>
              <a:t>Project description</a:t>
            </a:r>
            <a:endParaRPr lang="en-US" sz="4400"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50BA749-253C-4782-53BC-8083FE00E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499" y="643467"/>
            <a:ext cx="4521480" cy="5571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By creating templates that can be edited and distributed in a fraction of the time that it takes to write a standard test or quiz</a:t>
            </a:r>
            <a:endParaRPr lang="en-US" dirty="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2093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A7C7-9499-208D-D1B7-DB2DE3E57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179" y="714375"/>
            <a:ext cx="3332955" cy="5076826"/>
          </a:xfrm>
        </p:spPr>
        <p:txBody>
          <a:bodyPr anchor="ctr">
            <a:normAutofit/>
          </a:bodyPr>
          <a:lstStyle/>
          <a:p>
            <a:r>
              <a:rPr lang="en-US" sz="400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Times New Roman"/>
                <a:cs typeface="Times New Roman"/>
              </a:rPr>
              <a:t>Innovation claim</a:t>
            </a:r>
            <a:endParaRPr lang="en-US" sz="4000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75136A9-49F9-4DA0-A741-F065B0FA0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3356" y="0"/>
            <a:ext cx="7558643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B912F6C7-0423-4B6F-AECE-710C84891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446539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A7208205-03EE-4EC8-9C34-59270C188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2336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0A00C45-9425-E549-71B6-2A07DB496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046" y="714375"/>
            <a:ext cx="6253751" cy="507682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This project is innovative because it will allow professors the ability to create on the fly in class or at home as the software is cross platform &amp; eliminating the ability to cheat by getting the information ahead of time.</a:t>
            </a:r>
          </a:p>
        </p:txBody>
      </p:sp>
    </p:spTree>
    <p:extLst>
      <p:ext uri="{BB962C8B-B14F-4D97-AF65-F5344CB8AC3E}">
        <p14:creationId xmlns:p14="http://schemas.microsoft.com/office/powerpoint/2010/main" val="29723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BD3ED2-B0E6-45A2-ABD5-ECF31BC37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D2D1E8-4ABF-4B6B-B39D-40B080B61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160" y="0"/>
            <a:ext cx="9369421" cy="6857999"/>
          </a:xfrm>
          <a:prstGeom prst="rect">
            <a:avLst/>
          </a:prstGeom>
          <a:gradFill flip="none" rotWithShape="1">
            <a:gsLst>
              <a:gs pos="10000">
                <a:schemeClr val="bg2">
                  <a:lumMod val="60000"/>
                  <a:lumOff val="40000"/>
                  <a:alpha val="40000"/>
                </a:schemeClr>
              </a:gs>
              <a:gs pos="70000">
                <a:schemeClr val="bg2">
                  <a:alpha val="0"/>
                </a:schemeClr>
              </a:gs>
              <a:gs pos="0">
                <a:schemeClr val="bg2">
                  <a:lumMod val="40000"/>
                  <a:lumOff val="6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C7AB4B5-66A5-48D1-BD88-C60A16ED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88489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 w="44450">
            <a:gradFill>
              <a:gsLst>
                <a:gs pos="500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25400" algn="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40D2AF-DF94-9431-14A4-8BC32A634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2" y="643467"/>
            <a:ext cx="4340023" cy="5571064"/>
          </a:xfrm>
        </p:spPr>
        <p:txBody>
          <a:bodyPr anchor="ctr">
            <a:normAutofit/>
          </a:bodyPr>
          <a:lstStyle/>
          <a:p>
            <a:r>
              <a:rPr lang="en-US" sz="4400" dirty="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Times New Roman"/>
                <a:cs typeface="Times New Roman"/>
              </a:rPr>
              <a:t>Scope (currently working on templates)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A8B537-D199-D4CE-1930-77F9CAC31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499" y="643467"/>
            <a:ext cx="4521480" cy="5571064"/>
          </a:xfrm>
        </p:spPr>
        <p:txBody>
          <a:bodyPr>
            <a:normAutofit/>
          </a:bodyPr>
          <a:lstStyle/>
          <a:p>
            <a:r>
              <a:rPr lang="en-US" sz="24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I am working on this project by myself with insight from Professor Jones &amp; Professor Valenzuela. Huge contribution by Professor Peters and Professor Brokaw for the source material needed to complete the project. </a:t>
            </a:r>
            <a:r>
              <a:rPr lang="en-US" sz="24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Mvp</a:t>
            </a:r>
            <a:r>
              <a:rPr lang="en-US" sz="24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 can be ready in a week tops. </a:t>
            </a:r>
          </a:p>
        </p:txBody>
      </p:sp>
    </p:spTree>
    <p:extLst>
      <p:ext uri="{BB962C8B-B14F-4D97-AF65-F5344CB8AC3E}">
        <p14:creationId xmlns:p14="http://schemas.microsoft.com/office/powerpoint/2010/main" val="2010167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>
            <a:extLst>
              <a:ext uri="{FF2B5EF4-FFF2-40B4-BE49-F238E27FC236}">
                <a16:creationId xmlns:a16="http://schemas.microsoft.com/office/drawing/2014/main" id="{5BBD3ED2-B0E6-45A2-ABD5-ECF31BC37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F2D2D1E8-4ABF-4B6B-B39D-40B080B61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160" y="0"/>
            <a:ext cx="9369421" cy="6857999"/>
          </a:xfrm>
          <a:prstGeom prst="rect">
            <a:avLst/>
          </a:prstGeom>
          <a:gradFill flip="none" rotWithShape="1">
            <a:gsLst>
              <a:gs pos="10000">
                <a:schemeClr val="bg2">
                  <a:lumMod val="60000"/>
                  <a:lumOff val="40000"/>
                  <a:alpha val="40000"/>
                </a:schemeClr>
              </a:gs>
              <a:gs pos="70000">
                <a:schemeClr val="bg2">
                  <a:alpha val="0"/>
                </a:schemeClr>
              </a:gs>
              <a:gs pos="0">
                <a:schemeClr val="bg2">
                  <a:lumMod val="40000"/>
                  <a:lumOff val="6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C7AB4B5-66A5-48D1-BD88-C60A16ED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88489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 w="44450">
            <a:gradFill>
              <a:gsLst>
                <a:gs pos="500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25400" algn="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218197-26E7-A151-1D3C-F6C242C48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2" y="643467"/>
            <a:ext cx="4340023" cy="5571064"/>
          </a:xfrm>
        </p:spPr>
        <p:txBody>
          <a:bodyPr anchor="ctr">
            <a:normAutofit/>
          </a:bodyPr>
          <a:lstStyle/>
          <a:p>
            <a:r>
              <a:rPr lang="en-US" sz="4400" dirty="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Times New Roman"/>
                <a:cs typeface="Times New Roman"/>
              </a:rPr>
              <a:t>Target market</a:t>
            </a:r>
            <a:endParaRPr 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60BC9-FA47-4968-92B8-ABEA5DA14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499" y="643467"/>
            <a:ext cx="4521480" cy="5571064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This project once finished can be used by any professor in an academic setting. </a:t>
            </a:r>
          </a:p>
          <a:p>
            <a:pPr>
              <a:buClr>
                <a:srgbClr val="FFFFFF"/>
              </a:buClr>
            </a:pPr>
            <a:r>
              <a:rPr lang="en-US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Can also be used in the industry for continuing education or assessing current skill set &amp; knowledge base</a:t>
            </a:r>
          </a:p>
        </p:txBody>
      </p:sp>
    </p:spTree>
    <p:extLst>
      <p:ext uri="{BB962C8B-B14F-4D97-AF65-F5344CB8AC3E}">
        <p14:creationId xmlns:p14="http://schemas.microsoft.com/office/powerpoint/2010/main" val="196835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7912-E029-C93E-9A9F-B9D0B1FFA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Times New Roman"/>
                <a:cs typeface="Times New Roman"/>
              </a:rPr>
              <a:t>Prior 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31738-D123-799D-29F7-0E62C41F7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  <a:hlinkClick r:id="rId2"/>
              </a:rPr>
              <a:t>https://gist.github.com/mmoralesf/bfec981a5898088bcefc931e0df1adce</a:t>
            </a:r>
            <a:endParaRPr lang="en-US" sz="2400" dirty="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ea typeface="+mn-lt"/>
              <a:cs typeface="Times New Roman"/>
            </a:endParaRPr>
          </a:p>
          <a:p>
            <a:pPr>
              <a:buClr>
                <a:srgbClr val="FFFFFF"/>
              </a:buClr>
            </a:pPr>
            <a:r>
              <a:rPr lang="en-US" sz="24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  <a:hlinkClick r:id="rId3"/>
              </a:rPr>
              <a:t>https://gitlab.com/jim.hefferon/undergradmath/-/blob/master/undergradmath.tex</a:t>
            </a:r>
            <a:endParaRPr lang="en-US" sz="2400" dirty="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+mn-lt"/>
              <a:cs typeface="Times New Roman"/>
            </a:endParaRPr>
          </a:p>
          <a:p>
            <a:pPr>
              <a:buClr>
                <a:srgbClr val="FFFFFF"/>
              </a:buClr>
            </a:pPr>
            <a:r>
              <a:rPr lang="en-US" sz="24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  <a:hlinkClick r:id="rId4"/>
              </a:rPr>
              <a:t>https://www.overleaf.com/latex/templates/discussion-essay-template/jdhdcsttjzqz</a:t>
            </a:r>
            <a:endParaRPr lang="en-US" sz="2400" dirty="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+mn-lt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sz="2400" dirty="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entury Gothic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433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C11BE-1C27-4D9A-7219-F3595AD8B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643" y="609600"/>
            <a:ext cx="6743767" cy="1905000"/>
          </a:xfrm>
        </p:spPr>
        <p:txBody>
          <a:bodyPr>
            <a:normAutofit/>
          </a:bodyPr>
          <a:lstStyle/>
          <a:p>
            <a:r>
              <a:rPr lang="en-US" sz="4400" dirty="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Times New Roman"/>
                <a:cs typeface="Times New Roman"/>
              </a:rPr>
              <a:t>Q &amp; A</a:t>
            </a:r>
            <a:endParaRPr lang="en-US" sz="4400"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7E9124-72A4-EFDA-8D55-2C8802E8BA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370" r="39874" b="6250"/>
          <a:stretch/>
        </p:blipFill>
        <p:spPr>
          <a:xfrm>
            <a:off x="257590" y="10"/>
            <a:ext cx="3479523" cy="6857990"/>
          </a:xfrm>
          <a:prstGeom prst="rect">
            <a:avLst/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56A4C8-4148-CFC6-BA57-95EA1B934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643" y="2666999"/>
            <a:ext cx="7046844" cy="3415749"/>
          </a:xfrm>
        </p:spPr>
        <p:txBody>
          <a:bodyPr>
            <a:normAutofit/>
          </a:bodyPr>
          <a:lstStyle/>
          <a:p>
            <a:r>
              <a:rPr lang="en-US" sz="24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Devon Caballero-Zarate</a:t>
            </a:r>
          </a:p>
          <a:p>
            <a:pPr>
              <a:buClr>
                <a:srgbClr val="FFFFFF"/>
              </a:buClr>
            </a:pPr>
            <a:r>
              <a:rPr lang="en-US" sz="24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Network Security</a:t>
            </a:r>
          </a:p>
          <a:p>
            <a:pPr>
              <a:buClr>
                <a:srgbClr val="FFFFFF"/>
              </a:buClr>
            </a:pPr>
            <a:r>
              <a:rPr lang="en-US" sz="24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Deter if not eliminate academic dishonesty, streamline workflow and decrease prep time.</a:t>
            </a:r>
          </a:p>
          <a:p>
            <a:pPr>
              <a:buClr>
                <a:srgbClr val="FFFFFF"/>
              </a:buClr>
            </a:pPr>
            <a:endParaRPr lang="en-US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89868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Mesh</vt:lpstr>
      <vt:lpstr>End Game/Checkmate</vt:lpstr>
      <vt:lpstr>Technical Field &amp; Background Information</vt:lpstr>
      <vt:lpstr>Project description</vt:lpstr>
      <vt:lpstr>Innovation claim</vt:lpstr>
      <vt:lpstr>Scope (currently working on templates)</vt:lpstr>
      <vt:lpstr>Target market</vt:lpstr>
      <vt:lpstr>Prior art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-</dc:creator>
  <cp:lastModifiedBy>-</cp:lastModifiedBy>
  <cp:revision>202</cp:revision>
  <dcterms:created xsi:type="dcterms:W3CDTF">2019-10-16T03:03:10Z</dcterms:created>
  <dcterms:modified xsi:type="dcterms:W3CDTF">2022-06-06T19:45:02Z</dcterms:modified>
</cp:coreProperties>
</file>